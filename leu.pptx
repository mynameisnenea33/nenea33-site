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2BAB8D-5E43-4B0C-9004-063E7919564F}" v="1266" dt="2025-10-21T21:23:55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24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42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4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0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897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446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957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3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391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736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93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2417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765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561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399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422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745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5836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Istoria </a:t>
            </a:r>
            <a:r>
              <a:rPr lang="en-US" dirty="0" err="1"/>
              <a:t>leului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0C0CA-EB6A-8A0D-169A-C6D95FBA1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6513"/>
            <a:ext cx="8534400" cy="1507067"/>
          </a:xfrm>
        </p:spPr>
        <p:txBody>
          <a:bodyPr/>
          <a:lstStyle/>
          <a:p>
            <a:r>
              <a:rPr lang="en-US" dirty="0" err="1"/>
              <a:t>Talerul</a:t>
            </a:r>
            <a:r>
              <a:rPr lang="en-US" dirty="0"/>
              <a:t>-leu(Sec. XVI-XVII)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41D9C-93B5-CF06-CF8D-48FBAC96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888475"/>
            <a:ext cx="8534400" cy="3615267"/>
          </a:xfrm>
        </p:spPr>
        <p:txBody>
          <a:bodyPr/>
          <a:lstStyle/>
          <a:p>
            <a:r>
              <a:rPr lang="en-US" sz="2800" dirty="0"/>
              <a:t>-Este o </a:t>
            </a:r>
            <a:r>
              <a:rPr lang="en-US" sz="2800" err="1"/>
              <a:t>monedă</a:t>
            </a:r>
            <a:r>
              <a:rPr lang="en-US" sz="2800" dirty="0"/>
              <a:t> de </a:t>
            </a:r>
            <a:r>
              <a:rPr lang="en-US" sz="2800" err="1"/>
              <a:t>arginit</a:t>
            </a:r>
            <a:r>
              <a:rPr lang="en-US" sz="2800" dirty="0"/>
              <a:t> </a:t>
            </a:r>
            <a:r>
              <a:rPr lang="en-US" sz="2800" err="1"/>
              <a:t>emisă</a:t>
            </a:r>
            <a:r>
              <a:rPr lang="en-US" sz="2800" dirty="0"/>
              <a:t> in </a:t>
            </a:r>
            <a:r>
              <a:rPr lang="en-US" sz="2800" err="1">
                <a:solidFill>
                  <a:srgbClr val="3E5E08"/>
                </a:solidFill>
                <a:ea typeface="+mn-lt"/>
                <a:cs typeface="+mn-lt"/>
              </a:rPr>
              <a:t>Provinciile</a:t>
            </a:r>
            <a:r>
              <a:rPr lang="en-US" sz="2800" dirty="0">
                <a:solidFill>
                  <a:srgbClr val="3E5E08"/>
                </a:solidFill>
                <a:ea typeface="+mn-lt"/>
                <a:cs typeface="+mn-lt"/>
              </a:rPr>
              <a:t> Unite ale </a:t>
            </a:r>
            <a:r>
              <a:rPr lang="en-US" sz="2800" err="1">
                <a:solidFill>
                  <a:srgbClr val="3E5E08"/>
                </a:solidFill>
                <a:ea typeface="+mn-lt"/>
                <a:cs typeface="+mn-lt"/>
              </a:rPr>
              <a:t>Țarilor</a:t>
            </a:r>
            <a:r>
              <a:rPr lang="en-US" sz="2800" dirty="0">
                <a:solidFill>
                  <a:srgbClr val="3E5E08"/>
                </a:solidFill>
                <a:ea typeface="+mn-lt"/>
                <a:cs typeface="+mn-lt"/>
              </a:rPr>
              <a:t> de </a:t>
            </a:r>
            <a:r>
              <a:rPr lang="en-US" sz="2800" err="1">
                <a:solidFill>
                  <a:srgbClr val="3E5E08"/>
                </a:solidFill>
                <a:ea typeface="+mn-lt"/>
                <a:cs typeface="+mn-lt"/>
              </a:rPr>
              <a:t>Jos</a:t>
            </a:r>
            <a:r>
              <a:rPr lang="en-US" sz="2800" err="1"/>
              <a:t>,a</a:t>
            </a:r>
            <a:r>
              <a:rPr lang="en-US" sz="2800" dirty="0"/>
              <a:t> </a:t>
            </a:r>
            <a:r>
              <a:rPr lang="en-US" sz="2800" err="1"/>
              <a:t>fost</a:t>
            </a:r>
            <a:r>
              <a:rPr lang="en-US" sz="2800" dirty="0"/>
              <a:t> </a:t>
            </a:r>
            <a:r>
              <a:rPr lang="en-US" sz="2800" err="1"/>
              <a:t>moneda</a:t>
            </a:r>
            <a:r>
              <a:rPr lang="en-US" sz="2800" dirty="0"/>
              <a:t> </a:t>
            </a:r>
            <a:r>
              <a:rPr lang="en-US" sz="2800" err="1"/>
              <a:t>cea</a:t>
            </a:r>
            <a:r>
              <a:rPr lang="en-US" sz="2800" dirty="0"/>
              <a:t> </a:t>
            </a:r>
            <a:r>
              <a:rPr lang="en-US" sz="2800" err="1"/>
              <a:t>mai</a:t>
            </a:r>
            <a:r>
              <a:rPr lang="en-US" sz="2800" dirty="0"/>
              <a:t> </a:t>
            </a:r>
            <a:r>
              <a:rPr lang="en-US" sz="2800" err="1"/>
              <a:t>intens</a:t>
            </a:r>
            <a:r>
              <a:rPr lang="en-US" sz="2800" dirty="0"/>
              <a:t> </a:t>
            </a:r>
            <a:r>
              <a:rPr lang="en-US" sz="2800" err="1"/>
              <a:t>circulată</a:t>
            </a:r>
            <a:r>
              <a:rPr lang="en-US" sz="2800" dirty="0"/>
              <a:t> </a:t>
            </a:r>
            <a:r>
              <a:rPr lang="en-US" sz="2800" err="1"/>
              <a:t>iar</a:t>
            </a:r>
            <a:r>
              <a:rPr lang="en-US" sz="2800" dirty="0"/>
              <a:t> </a:t>
            </a:r>
            <a:r>
              <a:rPr lang="en-US" sz="2800" err="1"/>
              <a:t>dupa</a:t>
            </a:r>
            <a:r>
              <a:rPr lang="en-US" sz="2800" dirty="0"/>
              <a:t> </a:t>
            </a:r>
            <a:r>
              <a:rPr lang="en-US" sz="2800" err="1"/>
              <a:t>ea</a:t>
            </a:r>
            <a:r>
              <a:rPr lang="en-US" sz="2800" dirty="0"/>
              <a:t> </a:t>
            </a:r>
            <a:r>
              <a:rPr lang="en-US" sz="2800" err="1"/>
              <a:t>apare</a:t>
            </a:r>
            <a:r>
              <a:rPr lang="en-US" sz="2800" dirty="0"/>
              <a:t> o </a:t>
            </a:r>
            <a:r>
              <a:rPr lang="en-US" sz="2800" err="1"/>
              <a:t>moneda</a:t>
            </a:r>
            <a:r>
              <a:rPr lang="en-US" sz="2800" dirty="0"/>
              <a:t> </a:t>
            </a:r>
            <a:r>
              <a:rPr lang="en-US" sz="2800" err="1"/>
              <a:t>numita</a:t>
            </a:r>
            <a:r>
              <a:rPr lang="en-US" sz="2800" dirty="0"/>
              <a:t> </a:t>
            </a:r>
            <a:r>
              <a:rPr lang="en-US" sz="2800" err="1"/>
              <a:t>leu,divizata</a:t>
            </a:r>
            <a:r>
              <a:rPr lang="en-US" sz="2800" dirty="0"/>
              <a:t> in 40 de </a:t>
            </a:r>
            <a:r>
              <a:rPr lang="en-US" sz="2800" err="1"/>
              <a:t>parale</a:t>
            </a:r>
            <a:r>
              <a:rPr lang="en-US" sz="2800" dirty="0"/>
              <a:t>.</a:t>
            </a:r>
          </a:p>
        </p:txBody>
      </p:sp>
      <p:pic>
        <p:nvPicPr>
          <p:cNvPr id="6" name="Picture 5" descr="A coin with a lion and lions on it&#10;&#10;AI-generated content may be incorrect.">
            <a:extLst>
              <a:ext uri="{FF2B5EF4-FFF2-40B4-BE49-F238E27FC236}">
                <a16:creationId xmlns:a16="http://schemas.microsoft.com/office/drawing/2014/main" id="{3D85A0AD-A12F-3D3C-0FB4-939D157AC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565" y="822706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083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CC41-995F-FF46-9AE9-7484F41FF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8064"/>
            <a:ext cx="8534400" cy="1507067"/>
          </a:xfrm>
        </p:spPr>
        <p:txBody>
          <a:bodyPr/>
          <a:lstStyle/>
          <a:p>
            <a:r>
              <a:rPr lang="en-US" dirty="0"/>
              <a:t>Leul(1867)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48BE26-20D3-3F49-653E-767A71A70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199068"/>
            <a:ext cx="8534400" cy="3615267"/>
          </a:xfrm>
        </p:spPr>
        <p:txBody>
          <a:bodyPr/>
          <a:lstStyle/>
          <a:p>
            <a:pPr>
              <a:buClr>
                <a:srgbClr val="FFFFFF"/>
              </a:buClr>
            </a:pPr>
            <a:r>
              <a:rPr lang="en-US" sz="2800" dirty="0"/>
              <a:t>Prin </a:t>
            </a:r>
            <a:r>
              <a:rPr lang="en-US" sz="2800" err="1"/>
              <a:t>adoptarea</a:t>
            </a:r>
            <a:r>
              <a:rPr lang="en-US" sz="2800" dirty="0"/>
              <a:t> </a:t>
            </a:r>
            <a:r>
              <a:rPr lang="en-US" sz="2800" err="1"/>
              <a:t>legii</a:t>
            </a:r>
            <a:r>
              <a:rPr lang="en-US" sz="2800" dirty="0"/>
              <a:t> </a:t>
            </a:r>
            <a:r>
              <a:rPr lang="en-US" sz="2800" err="1"/>
              <a:t>monetare</a:t>
            </a:r>
            <a:r>
              <a:rPr lang="en-US" sz="2800" dirty="0"/>
              <a:t>, </a:t>
            </a:r>
            <a:r>
              <a:rPr lang="en-US" sz="2800" err="1"/>
              <a:t>leul</a:t>
            </a:r>
            <a:r>
              <a:rPr lang="en-US" sz="2800" dirty="0"/>
              <a:t> </a:t>
            </a:r>
            <a:r>
              <a:rPr lang="en-US" sz="2800" err="1"/>
              <a:t>devine</a:t>
            </a:r>
            <a:r>
              <a:rPr lang="en-US" sz="2800" dirty="0"/>
              <a:t> </a:t>
            </a:r>
            <a:r>
              <a:rPr lang="en-US" sz="2800" err="1"/>
              <a:t>moneda</a:t>
            </a:r>
            <a:r>
              <a:rPr lang="en-US" sz="2800" dirty="0"/>
              <a:t> </a:t>
            </a:r>
            <a:r>
              <a:rPr lang="en-US" sz="2800" err="1"/>
              <a:t>naționala</a:t>
            </a:r>
            <a:r>
              <a:rPr lang="en-US" sz="2800" dirty="0"/>
              <a:t> </a:t>
            </a:r>
            <a:r>
              <a:rPr lang="en-US" sz="2800" err="1"/>
              <a:t>împărțită</a:t>
            </a:r>
            <a:r>
              <a:rPr lang="en-US" sz="2800" dirty="0"/>
              <a:t> </a:t>
            </a:r>
            <a:r>
              <a:rPr lang="en-US" sz="2800" err="1"/>
              <a:t>în</a:t>
            </a:r>
            <a:r>
              <a:rPr lang="en-US" sz="2800" dirty="0"/>
              <a:t> 100 de bani.</a:t>
            </a:r>
          </a:p>
          <a:p>
            <a:pPr>
              <a:buClr>
                <a:srgbClr val="FFFFFF"/>
              </a:buClr>
            </a:pPr>
            <a:r>
              <a:rPr lang="en-US" sz="2800" err="1"/>
              <a:t>Inițial</a:t>
            </a:r>
            <a:r>
              <a:rPr lang="en-US" sz="2800" dirty="0"/>
              <a:t> s-au </a:t>
            </a:r>
            <a:r>
              <a:rPr lang="en-US" sz="2800" err="1"/>
              <a:t>emis</a:t>
            </a:r>
            <a:r>
              <a:rPr lang="en-US" sz="2800" dirty="0"/>
              <a:t> </a:t>
            </a:r>
            <a:r>
              <a:rPr lang="en-US" sz="2800" err="1"/>
              <a:t>monede</a:t>
            </a:r>
            <a:r>
              <a:rPr lang="en-US" sz="2800" dirty="0"/>
              <a:t> de </a:t>
            </a:r>
            <a:r>
              <a:rPr lang="en-US" sz="2800" err="1"/>
              <a:t>aramă</a:t>
            </a:r>
            <a:r>
              <a:rPr lang="en-US" sz="2800" dirty="0"/>
              <a:t> cu </a:t>
            </a:r>
            <a:r>
              <a:rPr lang="en-US" sz="2800" err="1"/>
              <a:t>valori</a:t>
            </a:r>
            <a:r>
              <a:rPr lang="en-US" sz="2800" dirty="0"/>
              <a:t> </a:t>
            </a:r>
            <a:r>
              <a:rPr lang="en-US" sz="2800" err="1"/>
              <a:t>nominale</a:t>
            </a:r>
            <a:r>
              <a:rPr lang="en-US" sz="2800" dirty="0"/>
              <a:t> de 1,2,5 </a:t>
            </a:r>
            <a:r>
              <a:rPr lang="en-US" sz="2800" err="1"/>
              <a:t>si</a:t>
            </a:r>
            <a:r>
              <a:rPr lang="en-US" sz="2800" dirty="0"/>
              <a:t> 10 bani </a:t>
            </a:r>
            <a:r>
              <a:rPr lang="en-US" sz="2800" err="1"/>
              <a:t>iar</a:t>
            </a:r>
            <a:r>
              <a:rPr lang="en-US" sz="2800" dirty="0"/>
              <a:t> ulterior </a:t>
            </a:r>
            <a:r>
              <a:rPr lang="en-US" sz="2800" err="1"/>
              <a:t>si</a:t>
            </a:r>
            <a:r>
              <a:rPr lang="en-US" sz="2800" dirty="0"/>
              <a:t> </a:t>
            </a:r>
            <a:r>
              <a:rPr lang="en-US" sz="2800" err="1"/>
              <a:t>valori</a:t>
            </a:r>
            <a:r>
              <a:rPr lang="en-US" sz="2800" dirty="0"/>
              <a:t> </a:t>
            </a:r>
            <a:r>
              <a:rPr lang="en-US" sz="2800" err="1"/>
              <a:t>mai</a:t>
            </a:r>
            <a:r>
              <a:rPr lang="en-US" sz="2800" dirty="0"/>
              <a:t> </a:t>
            </a:r>
            <a:r>
              <a:rPr lang="en-US" sz="2800" err="1"/>
              <a:t>mari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7716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B753-1274-8A63-F537-AA1C7B761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6513"/>
            <a:ext cx="8534400" cy="1507067"/>
          </a:xfrm>
        </p:spPr>
        <p:txBody>
          <a:bodyPr/>
          <a:lstStyle/>
          <a:p>
            <a:r>
              <a:rPr lang="en-US" dirty="0" err="1"/>
              <a:t>Banii</a:t>
            </a:r>
            <a:r>
              <a:rPr lang="en-US" dirty="0"/>
              <a:t> </a:t>
            </a:r>
            <a:r>
              <a:rPr lang="en-US" dirty="0" err="1"/>
              <a:t>romanesti</a:t>
            </a:r>
            <a:r>
              <a:rPr lang="en-US" dirty="0"/>
              <a:t> de </a:t>
            </a:r>
            <a:r>
              <a:rPr lang="en-US" dirty="0" err="1"/>
              <a:t>hartie</a:t>
            </a:r>
            <a:r>
              <a:rPr lang="en-US" dirty="0"/>
              <a:t>(1877)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1A741-5A18-DF54-0A76-12A8A525C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347511"/>
            <a:ext cx="8534400" cy="3615267"/>
          </a:xfrm>
        </p:spPr>
        <p:txBody>
          <a:bodyPr/>
          <a:lstStyle/>
          <a:p>
            <a:r>
              <a:rPr lang="en-US" sz="2800" dirty="0"/>
              <a:t>In 1877 s-au </a:t>
            </a:r>
            <a:r>
              <a:rPr lang="en-US" sz="2800" err="1"/>
              <a:t>emis</a:t>
            </a:r>
            <a:r>
              <a:rPr lang="en-US" sz="2800" dirty="0"/>
              <a:t> </a:t>
            </a:r>
            <a:r>
              <a:rPr lang="en-US" sz="2800" err="1"/>
              <a:t>primii</a:t>
            </a:r>
            <a:r>
              <a:rPr lang="en-US" sz="2800" dirty="0"/>
              <a:t> bani </a:t>
            </a:r>
            <a:r>
              <a:rPr lang="en-US" sz="2800" err="1"/>
              <a:t>românești</a:t>
            </a:r>
            <a:r>
              <a:rPr lang="en-US" sz="2800" dirty="0"/>
              <a:t> de </a:t>
            </a:r>
            <a:r>
              <a:rPr lang="en-US" sz="2800" err="1"/>
              <a:t>hartie</a:t>
            </a:r>
            <a:r>
              <a:rPr lang="en-US" sz="2800" dirty="0"/>
              <a:t> de </a:t>
            </a:r>
            <a:r>
              <a:rPr lang="en-US" sz="2800" err="1"/>
              <a:t>către</a:t>
            </a:r>
            <a:r>
              <a:rPr lang="en-US" sz="2800" dirty="0"/>
              <a:t> </a:t>
            </a:r>
            <a:r>
              <a:rPr lang="en-US" sz="2800" err="1"/>
              <a:t>ministerul</a:t>
            </a:r>
            <a:r>
              <a:rPr lang="en-US" sz="2800" dirty="0"/>
              <a:t> de </a:t>
            </a:r>
            <a:r>
              <a:rPr lang="en-US" sz="2800" err="1"/>
              <a:t>finante</a:t>
            </a:r>
            <a:r>
              <a:rPr lang="en-US" sz="2800" dirty="0"/>
              <a:t> </a:t>
            </a:r>
            <a:r>
              <a:rPr lang="en-US" sz="2800" err="1"/>
              <a:t>pentru</a:t>
            </a:r>
            <a:r>
              <a:rPr lang="en-US" sz="2800" dirty="0"/>
              <a:t> </a:t>
            </a:r>
            <a:r>
              <a:rPr lang="en-US" sz="2800" err="1"/>
              <a:t>acoperirea</a:t>
            </a:r>
            <a:r>
              <a:rPr lang="en-US" sz="2800" dirty="0"/>
              <a:t> </a:t>
            </a:r>
            <a:r>
              <a:rPr lang="en-US" sz="2800" err="1"/>
              <a:t>chelutierilor</a:t>
            </a:r>
            <a:r>
              <a:rPr lang="en-US" sz="2800" dirty="0"/>
              <a:t> generate de </a:t>
            </a:r>
            <a:r>
              <a:rPr lang="en-US" sz="2800" err="1"/>
              <a:t>războiul</a:t>
            </a:r>
            <a:r>
              <a:rPr lang="en-US" sz="2800" dirty="0"/>
              <a:t> de </a:t>
            </a:r>
            <a:r>
              <a:rPr lang="en-US" sz="2800" err="1"/>
              <a:t>independență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6931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0E76-69D5-BA87-E946-C0B4F6C10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6513"/>
            <a:ext cx="8534400" cy="1507067"/>
          </a:xfrm>
        </p:spPr>
        <p:txBody>
          <a:bodyPr/>
          <a:lstStyle/>
          <a:p>
            <a:r>
              <a:rPr lang="en-US" dirty="0"/>
              <a:t>Leul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perioada</a:t>
            </a:r>
            <a:r>
              <a:rPr lang="en-US" dirty="0"/>
              <a:t> </a:t>
            </a:r>
            <a:r>
              <a:rPr lang="en-US" dirty="0" err="1"/>
              <a:t>primului</a:t>
            </a:r>
            <a:r>
              <a:rPr lang="en-US" dirty="0"/>
              <a:t> </a:t>
            </a:r>
            <a:r>
              <a:rPr lang="en-US" dirty="0" err="1"/>
              <a:t>razboi</a:t>
            </a:r>
            <a:r>
              <a:rPr lang="en-US" dirty="0"/>
              <a:t> </a:t>
            </a:r>
            <a:r>
              <a:rPr lang="en-US" dirty="0" err="1"/>
              <a:t>mondial</a:t>
            </a:r>
            <a:r>
              <a:rPr lang="en-US" dirty="0"/>
              <a:t>(1916-1918)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FF4FB-90D6-2D56-1DE1-72FA387AE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375053"/>
            <a:ext cx="8534400" cy="3615267"/>
          </a:xfrm>
        </p:spPr>
        <p:txBody>
          <a:bodyPr/>
          <a:lstStyle/>
          <a:p>
            <a:r>
              <a:rPr lang="en-US" sz="2800" dirty="0"/>
              <a:t>Din </a:t>
            </a:r>
            <a:r>
              <a:rPr lang="en-US" sz="2800" err="1"/>
              <a:t>cauza</a:t>
            </a:r>
            <a:r>
              <a:rPr lang="en-US" sz="2800" dirty="0"/>
              <a:t> </a:t>
            </a:r>
            <a:r>
              <a:rPr lang="en-US" sz="2800" err="1"/>
              <a:t>creșterii</a:t>
            </a:r>
            <a:r>
              <a:rPr lang="en-US" sz="2800" dirty="0"/>
              <a:t> </a:t>
            </a:r>
            <a:r>
              <a:rPr lang="en-US" sz="2800" err="1"/>
              <a:t>inflației</a:t>
            </a:r>
            <a:r>
              <a:rPr lang="en-US" sz="2800" dirty="0"/>
              <a:t>, se </a:t>
            </a:r>
            <a:r>
              <a:rPr lang="en-US" sz="2800" err="1"/>
              <a:t>determina</a:t>
            </a:r>
            <a:r>
              <a:rPr lang="en-US" sz="2800" dirty="0"/>
              <a:t> </a:t>
            </a:r>
            <a:r>
              <a:rPr lang="en-US" sz="2800" err="1"/>
              <a:t>tipărirea</a:t>
            </a:r>
            <a:r>
              <a:rPr lang="en-US" sz="2800" dirty="0"/>
              <a:t> </a:t>
            </a:r>
            <a:r>
              <a:rPr lang="en-US" sz="2800" err="1"/>
              <a:t>unor</a:t>
            </a:r>
            <a:r>
              <a:rPr lang="en-US" sz="2800" dirty="0"/>
              <a:t> </a:t>
            </a:r>
            <a:r>
              <a:rPr lang="en-US" sz="2800" err="1"/>
              <a:t>cantități</a:t>
            </a:r>
            <a:r>
              <a:rPr lang="en-US" sz="2800" dirty="0"/>
              <a:t> </a:t>
            </a:r>
            <a:r>
              <a:rPr lang="en-US" sz="2800" err="1"/>
              <a:t>suplimentare</a:t>
            </a:r>
            <a:r>
              <a:rPr lang="en-US" sz="2800" dirty="0"/>
              <a:t> de bani de </a:t>
            </a:r>
            <a:r>
              <a:rPr lang="en-US" sz="2800" err="1"/>
              <a:t>hârtie</a:t>
            </a:r>
            <a:r>
              <a:rPr lang="en-US" sz="2800" dirty="0"/>
              <a:t>.</a:t>
            </a:r>
          </a:p>
          <a:p>
            <a:pPr>
              <a:buClr>
                <a:srgbClr val="FFFFFF"/>
              </a:buClr>
            </a:pPr>
            <a:r>
              <a:rPr lang="en-US" sz="2800" dirty="0"/>
              <a:t>De </a:t>
            </a:r>
            <a:r>
              <a:rPr lang="en-US" sz="2800" err="1"/>
              <a:t>asemenea</a:t>
            </a:r>
            <a:r>
              <a:rPr lang="en-US" sz="2800" dirty="0"/>
              <a:t>, </a:t>
            </a:r>
            <a:r>
              <a:rPr lang="en-US" sz="2800" err="1"/>
              <a:t>este</a:t>
            </a:r>
            <a:r>
              <a:rPr lang="en-US" sz="2800" dirty="0"/>
              <a:t> </a:t>
            </a:r>
            <a:r>
              <a:rPr lang="en-US" sz="2800" err="1"/>
              <a:t>suspdentată</a:t>
            </a:r>
            <a:r>
              <a:rPr lang="en-US" sz="2800" dirty="0"/>
              <a:t> </a:t>
            </a:r>
            <a:r>
              <a:rPr lang="en-US" sz="2800" err="1"/>
              <a:t>convertirea</a:t>
            </a:r>
            <a:r>
              <a:rPr lang="en-US" sz="2800" dirty="0"/>
              <a:t> in aur a </a:t>
            </a:r>
            <a:r>
              <a:rPr lang="en-US" sz="2800" err="1"/>
              <a:t>bancnotelor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6908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AC19E-68A6-2318-EBD8-4E5F76DE4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6513"/>
            <a:ext cx="8534400" cy="1507067"/>
          </a:xfrm>
        </p:spPr>
        <p:txBody>
          <a:bodyPr/>
          <a:lstStyle/>
          <a:p>
            <a:r>
              <a:rPr lang="en-US" dirty="0" err="1"/>
              <a:t>Unificarea</a:t>
            </a:r>
            <a:r>
              <a:rPr lang="en-US" dirty="0"/>
              <a:t> </a:t>
            </a:r>
            <a:r>
              <a:rPr lang="en-US" dirty="0" err="1"/>
              <a:t>monetară</a:t>
            </a:r>
            <a:r>
              <a:rPr lang="en-US" dirty="0"/>
              <a:t>(1920)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5AD4F-3336-8353-3A95-AE8EDB9FA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310788"/>
            <a:ext cx="8534400" cy="3615267"/>
          </a:xfrm>
        </p:spPr>
        <p:txBody>
          <a:bodyPr/>
          <a:lstStyle/>
          <a:p>
            <a:r>
              <a:rPr lang="en-US" sz="2800" err="1"/>
              <a:t>După</a:t>
            </a:r>
            <a:r>
              <a:rPr lang="en-US" sz="2800" dirty="0"/>
              <a:t> Unirea de la 1 </a:t>
            </a:r>
            <a:r>
              <a:rPr lang="en-US" sz="2800" err="1"/>
              <a:t>Decembrie</a:t>
            </a:r>
            <a:r>
              <a:rPr lang="en-US" sz="2800" dirty="0"/>
              <a:t> 1918,se </a:t>
            </a:r>
            <a:r>
              <a:rPr lang="en-US" sz="2800" err="1"/>
              <a:t>realizează</a:t>
            </a:r>
            <a:r>
              <a:rPr lang="en-US" sz="2800" dirty="0"/>
              <a:t> </a:t>
            </a:r>
            <a:r>
              <a:rPr lang="en-US" sz="2800" err="1"/>
              <a:t>preschimbarea</a:t>
            </a:r>
            <a:r>
              <a:rPr lang="en-US" sz="2800" dirty="0"/>
              <a:t> </a:t>
            </a:r>
            <a:r>
              <a:rPr lang="en-US" sz="2800" err="1"/>
              <a:t>în</a:t>
            </a:r>
            <a:r>
              <a:rPr lang="en-US" sz="2800" dirty="0"/>
              <a:t> lei </a:t>
            </a:r>
            <a:r>
              <a:rPr lang="en-US" sz="2800" err="1"/>
              <a:t>emiși</a:t>
            </a:r>
            <a:r>
              <a:rPr lang="en-US" sz="2800" dirty="0"/>
              <a:t> de BNR a </a:t>
            </a:r>
            <a:r>
              <a:rPr lang="en-US" sz="2800" err="1"/>
              <a:t>tuturor</a:t>
            </a:r>
            <a:r>
              <a:rPr lang="en-US" sz="2800" dirty="0"/>
              <a:t> </a:t>
            </a:r>
            <a:r>
              <a:rPr lang="en-US" sz="2800" err="1"/>
              <a:t>valutelor</a:t>
            </a:r>
            <a:r>
              <a:rPr lang="en-US" sz="2800" dirty="0"/>
              <a:t> care </a:t>
            </a:r>
            <a:r>
              <a:rPr lang="en-US" sz="2800" err="1"/>
              <a:t>circulau</a:t>
            </a:r>
            <a:r>
              <a:rPr lang="en-US" sz="2800" dirty="0"/>
              <a:t> </a:t>
            </a:r>
            <a:r>
              <a:rPr lang="en-US" sz="2800" err="1"/>
              <a:t>în</a:t>
            </a:r>
            <a:r>
              <a:rPr lang="en-US" sz="2800" dirty="0"/>
              <a:t> </a:t>
            </a:r>
            <a:r>
              <a:rPr lang="en-US" sz="2800" err="1"/>
              <a:t>provinciile</a:t>
            </a:r>
            <a:r>
              <a:rPr lang="en-US" sz="2800" dirty="0"/>
              <a:t> </a:t>
            </a:r>
            <a:r>
              <a:rPr lang="en-US" sz="2800" err="1"/>
              <a:t>românești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870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75BC-5A83-E73A-649E-E260D271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8064"/>
            <a:ext cx="8534400" cy="1507067"/>
          </a:xfrm>
        </p:spPr>
        <p:txBody>
          <a:bodyPr/>
          <a:lstStyle/>
          <a:p>
            <a:r>
              <a:rPr lang="en-US" dirty="0"/>
              <a:t>Republica </a:t>
            </a:r>
            <a:r>
              <a:rPr lang="en-US" dirty="0" err="1"/>
              <a:t>socialista</a:t>
            </a:r>
            <a:r>
              <a:rPr lang="en-US" dirty="0"/>
              <a:t> </a:t>
            </a:r>
            <a:r>
              <a:rPr lang="en-US" dirty="0" err="1"/>
              <a:t>românia</a:t>
            </a:r>
            <a:r>
              <a:rPr lang="en-US" dirty="0"/>
              <a:t>(1966)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3DC12-B740-31EA-3416-07A02E003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381518"/>
            <a:ext cx="8534400" cy="3615267"/>
          </a:xfrm>
        </p:spPr>
        <p:txBody>
          <a:bodyPr/>
          <a:lstStyle/>
          <a:p>
            <a:r>
              <a:rPr lang="en-US" sz="2800" dirty="0" err="1"/>
              <a:t>Odată</a:t>
            </a:r>
            <a:r>
              <a:rPr lang="en-US" sz="2800" dirty="0"/>
              <a:t> cu </a:t>
            </a:r>
            <a:r>
              <a:rPr lang="en-US" sz="2800" dirty="0" err="1"/>
              <a:t>transformarea</a:t>
            </a:r>
            <a:r>
              <a:rPr lang="en-US" sz="2800" dirty="0"/>
              <a:t> </a:t>
            </a:r>
            <a:r>
              <a:rPr lang="en-US" sz="2800" dirty="0" err="1"/>
              <a:t>Republicii</a:t>
            </a:r>
            <a:r>
              <a:rPr lang="en-US" sz="2800" dirty="0"/>
              <a:t> Populare </a:t>
            </a:r>
            <a:r>
              <a:rPr lang="en-US" sz="2800" dirty="0" err="1"/>
              <a:t>Române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 Republica </a:t>
            </a:r>
            <a:r>
              <a:rPr lang="en-US" sz="2800" dirty="0" err="1"/>
              <a:t>Socialistă</a:t>
            </a:r>
            <a:r>
              <a:rPr lang="en-US" sz="2800" dirty="0"/>
              <a:t> </a:t>
            </a:r>
            <a:r>
              <a:rPr lang="en-US" sz="2800" dirty="0" err="1"/>
              <a:t>România</a:t>
            </a:r>
            <a:r>
              <a:rPr lang="en-US" sz="2800" dirty="0"/>
              <a:t>, au </a:t>
            </a:r>
            <a:r>
              <a:rPr lang="en-US" sz="2800" dirty="0" err="1"/>
              <a:t>fost</a:t>
            </a:r>
            <a:r>
              <a:rPr lang="en-US" sz="2800" dirty="0"/>
              <a:t> </a:t>
            </a:r>
            <a:r>
              <a:rPr lang="en-US" sz="2800" dirty="0" err="1"/>
              <a:t>puse</a:t>
            </a:r>
            <a:r>
              <a:rPr lang="en-US" sz="2800" dirty="0"/>
              <a:t> in </a:t>
            </a:r>
            <a:r>
              <a:rPr lang="en-US" sz="2800" dirty="0" err="1"/>
              <a:t>circulatie</a:t>
            </a:r>
            <a:r>
              <a:rPr lang="en-US" sz="2800" dirty="0"/>
              <a:t> </a:t>
            </a:r>
            <a:r>
              <a:rPr lang="en-US" sz="2800" dirty="0" err="1"/>
              <a:t>noi</a:t>
            </a:r>
            <a:r>
              <a:rPr lang="en-US" sz="2800" dirty="0"/>
              <a:t> </a:t>
            </a:r>
            <a:r>
              <a:rPr lang="en-US" sz="2800" dirty="0" err="1"/>
              <a:t>bancnote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monede</a:t>
            </a:r>
            <a:endParaRPr lang="en-US" dirty="0"/>
          </a:p>
        </p:txBody>
      </p:sp>
      <p:pic>
        <p:nvPicPr>
          <p:cNvPr id="4" name="Picture 3" descr="A close up of a currency&#10;&#10;AI-generated content may be incorrect.">
            <a:extLst>
              <a:ext uri="{FF2B5EF4-FFF2-40B4-BE49-F238E27FC236}">
                <a16:creationId xmlns:a16="http://schemas.microsoft.com/office/drawing/2014/main" id="{7C31408C-D86F-6599-6CD3-9AF9DCDC2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849" y="1253946"/>
            <a:ext cx="3508553" cy="189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7E39-E3AC-E04F-CEEE-D64F07B3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6513"/>
            <a:ext cx="8534400" cy="1507067"/>
          </a:xfrm>
        </p:spPr>
        <p:txBody>
          <a:bodyPr/>
          <a:lstStyle/>
          <a:p>
            <a:r>
              <a:rPr lang="en-US" dirty="0"/>
              <a:t>DUPA REVOLUTIE(1991)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E8528-2E7F-83D9-7DA7-3AA74319A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338330"/>
            <a:ext cx="8534400" cy="3615267"/>
          </a:xfrm>
        </p:spPr>
        <p:txBody>
          <a:bodyPr/>
          <a:lstStyle/>
          <a:p>
            <a:r>
              <a:rPr lang="en-US" sz="2800" err="1"/>
              <a:t>După</a:t>
            </a:r>
            <a:r>
              <a:rPr lang="en-US" sz="2800" dirty="0"/>
              <a:t> </a:t>
            </a:r>
            <a:r>
              <a:rPr lang="en-US" sz="2800" err="1"/>
              <a:t>revoluția</a:t>
            </a:r>
            <a:r>
              <a:rPr lang="en-US" sz="2800" dirty="0"/>
              <a:t> din 1989, se emit </a:t>
            </a:r>
            <a:r>
              <a:rPr lang="en-US" sz="2800" err="1"/>
              <a:t>noi</a:t>
            </a:r>
            <a:r>
              <a:rPr lang="en-US" sz="2800" dirty="0"/>
              <a:t> </a:t>
            </a:r>
            <a:r>
              <a:rPr lang="en-US" sz="2800" err="1"/>
              <a:t>bancnote</a:t>
            </a:r>
            <a:r>
              <a:rPr lang="en-US" sz="2800" dirty="0"/>
              <a:t> cu </a:t>
            </a:r>
            <a:r>
              <a:rPr lang="en-US" sz="2800" err="1"/>
              <a:t>alte</a:t>
            </a:r>
            <a:r>
              <a:rPr lang="en-US" sz="2800" dirty="0"/>
              <a:t> </a:t>
            </a:r>
            <a:r>
              <a:rPr lang="en-US" sz="2800" err="1"/>
              <a:t>însemnne</a:t>
            </a:r>
            <a:r>
              <a:rPr lang="en-US" sz="2800" dirty="0"/>
              <a:t> ale </a:t>
            </a:r>
            <a:r>
              <a:rPr lang="en-US" sz="2800" err="1"/>
              <a:t>României.Pana</a:t>
            </a:r>
            <a:r>
              <a:rPr lang="en-US" sz="2800" dirty="0"/>
              <a:t> </a:t>
            </a:r>
            <a:r>
              <a:rPr lang="en-US" sz="2800" err="1"/>
              <a:t>în</a:t>
            </a:r>
            <a:r>
              <a:rPr lang="en-US" sz="2800" dirty="0"/>
              <a:t> </a:t>
            </a:r>
            <a:r>
              <a:rPr lang="en-US" sz="2800" err="1"/>
              <a:t>anul</a:t>
            </a:r>
            <a:r>
              <a:rPr lang="en-US" sz="2800" dirty="0"/>
              <a:t> 1994 </a:t>
            </a:r>
            <a:r>
              <a:rPr lang="en-US" sz="2800" err="1"/>
              <a:t>circula</a:t>
            </a:r>
            <a:r>
              <a:rPr lang="en-US" sz="2800" dirty="0"/>
              <a:t> in </a:t>
            </a:r>
            <a:r>
              <a:rPr lang="en-US" sz="2800" err="1"/>
              <a:t>pararel</a:t>
            </a:r>
            <a:r>
              <a:rPr lang="en-US" sz="2800" dirty="0"/>
              <a:t> </a:t>
            </a:r>
            <a:r>
              <a:rPr lang="en-US" sz="2800" err="1"/>
              <a:t>monede</a:t>
            </a:r>
            <a:r>
              <a:rPr lang="en-US" sz="2800" dirty="0"/>
              <a:t> </a:t>
            </a:r>
            <a:r>
              <a:rPr lang="en-US" sz="2800" err="1"/>
              <a:t>vechi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977365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0F63-DD11-160D-7E1C-D94183E71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6513"/>
            <a:ext cx="8534400" cy="1507067"/>
          </a:xfrm>
        </p:spPr>
        <p:txBody>
          <a:bodyPr/>
          <a:lstStyle/>
          <a:p>
            <a:r>
              <a:rPr lang="en-US" dirty="0"/>
              <a:t>DENOMINAREA(2005)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46CC9-85FA-0BF2-4A44-336B0174E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356692"/>
            <a:ext cx="8534400" cy="3615267"/>
          </a:xfrm>
        </p:spPr>
        <p:txBody>
          <a:bodyPr/>
          <a:lstStyle/>
          <a:p>
            <a:pPr>
              <a:buClr>
                <a:srgbClr val="FFFFFF"/>
              </a:buClr>
            </a:pPr>
            <a:r>
              <a:rPr lang="en-US" sz="2800" err="1"/>
              <a:t>Inflația</a:t>
            </a:r>
            <a:r>
              <a:rPr lang="en-US" sz="2800" dirty="0"/>
              <a:t> </a:t>
            </a:r>
            <a:r>
              <a:rPr lang="en-US" sz="2800" err="1"/>
              <a:t>crescută</a:t>
            </a:r>
            <a:r>
              <a:rPr lang="en-US" sz="2800" dirty="0"/>
              <a:t> a </a:t>
            </a:r>
            <a:r>
              <a:rPr lang="en-US" sz="2800" err="1"/>
              <a:t>determinat</a:t>
            </a:r>
            <a:r>
              <a:rPr lang="en-US" sz="2800" dirty="0"/>
              <a:t> ca </a:t>
            </a:r>
            <a:r>
              <a:rPr lang="en-US" sz="2800" err="1"/>
              <a:t>valorile</a:t>
            </a:r>
            <a:r>
              <a:rPr lang="en-US" sz="2800" dirty="0"/>
              <a:t> </a:t>
            </a:r>
            <a:r>
              <a:rPr lang="en-US" sz="2800" err="1"/>
              <a:t>economice</a:t>
            </a:r>
            <a:r>
              <a:rPr lang="en-US" sz="2800" dirty="0"/>
              <a:t> </a:t>
            </a:r>
            <a:r>
              <a:rPr lang="en-US" sz="2800" err="1"/>
              <a:t>sa</a:t>
            </a:r>
            <a:r>
              <a:rPr lang="en-US" sz="2800" dirty="0"/>
              <a:t> </a:t>
            </a:r>
            <a:r>
              <a:rPr lang="en-US" sz="2800" err="1"/>
              <a:t>aibă</a:t>
            </a:r>
            <a:r>
              <a:rPr lang="en-US" sz="2800" dirty="0"/>
              <a:t> </a:t>
            </a:r>
            <a:r>
              <a:rPr lang="en-US" sz="2800" err="1"/>
              <a:t>prea</a:t>
            </a:r>
            <a:r>
              <a:rPr lang="en-US" sz="2800" dirty="0"/>
              <a:t> </a:t>
            </a:r>
            <a:r>
              <a:rPr lang="en-US" sz="2800" err="1"/>
              <a:t>multe</a:t>
            </a:r>
            <a:r>
              <a:rPr lang="en-US" sz="2800" dirty="0"/>
              <a:t> zero-</a:t>
            </a:r>
            <a:r>
              <a:rPr lang="en-US" sz="2800" err="1"/>
              <a:t>uri.S</a:t>
            </a:r>
            <a:r>
              <a:rPr lang="en-US" sz="2800" dirty="0"/>
              <a:t>-a </a:t>
            </a:r>
            <a:r>
              <a:rPr lang="en-US" sz="2800" err="1"/>
              <a:t>decis</a:t>
            </a:r>
            <a:r>
              <a:rPr lang="en-US" sz="2800" dirty="0"/>
              <a:t> </a:t>
            </a:r>
            <a:r>
              <a:rPr lang="en-US" sz="2800" err="1"/>
              <a:t>tăierea</a:t>
            </a:r>
            <a:r>
              <a:rPr lang="en-US" sz="2800" dirty="0"/>
              <a:t> cu </a:t>
            </a:r>
            <a:r>
              <a:rPr lang="en-US" sz="2800" err="1"/>
              <a:t>patru</a:t>
            </a:r>
            <a:r>
              <a:rPr lang="en-US" sz="2800" dirty="0"/>
              <a:t> de zero-</a:t>
            </a:r>
            <a:r>
              <a:rPr lang="en-US" sz="2800" err="1"/>
              <a:t>uri</a:t>
            </a:r>
            <a:r>
              <a:rPr lang="en-US" sz="2800" dirty="0"/>
              <a:t> a </a:t>
            </a:r>
            <a:r>
              <a:rPr lang="en-US" sz="2800" err="1"/>
              <a:t>valorii</a:t>
            </a:r>
            <a:r>
              <a:rPr lang="en-US" sz="2800" dirty="0"/>
              <a:t> </a:t>
            </a:r>
            <a:r>
              <a:rPr lang="en-US" sz="2800" err="1"/>
              <a:t>nominale,astfel</a:t>
            </a:r>
            <a:r>
              <a:rPr lang="en-US" sz="2800" dirty="0"/>
              <a:t> 10.000 lei </a:t>
            </a:r>
            <a:r>
              <a:rPr lang="en-US" sz="2800" err="1"/>
              <a:t>vechi</a:t>
            </a:r>
            <a:r>
              <a:rPr lang="en-US" sz="2800" dirty="0"/>
              <a:t> se </a:t>
            </a:r>
            <a:r>
              <a:rPr lang="en-US" sz="2800" err="1"/>
              <a:t>preschimba</a:t>
            </a:r>
            <a:r>
              <a:rPr lang="en-US" sz="2800" dirty="0"/>
              <a:t> cu 1 leu nou.</a:t>
            </a:r>
          </a:p>
          <a:p>
            <a:pPr>
              <a:buClr>
                <a:srgbClr val="FFFFFF"/>
              </a:buClr>
            </a:pPr>
            <a:r>
              <a:rPr lang="en-US" sz="2800" dirty="0"/>
              <a:t>De </a:t>
            </a:r>
            <a:r>
              <a:rPr lang="en-US" sz="2800" err="1"/>
              <a:t>asemenea,noile</a:t>
            </a:r>
            <a:r>
              <a:rPr lang="en-US" sz="2800" dirty="0"/>
              <a:t> </a:t>
            </a:r>
            <a:r>
              <a:rPr lang="en-US" sz="2800" err="1"/>
              <a:t>bancnote</a:t>
            </a:r>
            <a:r>
              <a:rPr lang="en-US" sz="2800" dirty="0"/>
              <a:t> sunt fabricate din </a:t>
            </a:r>
            <a:r>
              <a:rPr lang="en-US" sz="2800" err="1"/>
              <a:t>polimer</a:t>
            </a:r>
            <a:r>
              <a:rPr lang="en-US" sz="2800" dirty="0"/>
              <a:t>.</a:t>
            </a:r>
          </a:p>
        </p:txBody>
      </p:sp>
      <p:pic>
        <p:nvPicPr>
          <p:cNvPr id="5" name="Picture 4" descr="A close up of a currency&#10;&#10;AI-generated content may be incorrect.">
            <a:extLst>
              <a:ext uri="{FF2B5EF4-FFF2-40B4-BE49-F238E27FC236}">
                <a16:creationId xmlns:a16="http://schemas.microsoft.com/office/drawing/2014/main" id="{DEA28EA1-1697-0048-5746-D70B8A56B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125" y="1007011"/>
            <a:ext cx="3200400" cy="1428750"/>
          </a:xfrm>
          <a:prstGeom prst="rect">
            <a:avLst/>
          </a:prstGeom>
        </p:spPr>
      </p:pic>
      <p:pic>
        <p:nvPicPr>
          <p:cNvPr id="6" name="Picture 5" descr="A close up of a currency&#10;&#10;AI-generated content may be incorrect.">
            <a:extLst>
              <a:ext uri="{FF2B5EF4-FFF2-40B4-BE49-F238E27FC236}">
                <a16:creationId xmlns:a16="http://schemas.microsoft.com/office/drawing/2014/main" id="{E8E26641-6CB9-4ED4-D892-916008A8E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9326" y="1006379"/>
            <a:ext cx="2821924" cy="143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809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Slice</vt:lpstr>
      <vt:lpstr>Istoria leului</vt:lpstr>
      <vt:lpstr>Talerul-leu(Sec. XVI-XVII)</vt:lpstr>
      <vt:lpstr>Leul(1867)</vt:lpstr>
      <vt:lpstr>Banii romanesti de hartie(1877)</vt:lpstr>
      <vt:lpstr>Leul în perioada primului razboi mondial(1916-1918)</vt:lpstr>
      <vt:lpstr>Unificarea monetară(1920)</vt:lpstr>
      <vt:lpstr>Republica socialista românia(1966)</vt:lpstr>
      <vt:lpstr>DUPA REVOLUTIE(1991)</vt:lpstr>
      <vt:lpstr>DENOMINAREA(2005)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248</cp:revision>
  <dcterms:created xsi:type="dcterms:W3CDTF">2025-10-19T17:30:28Z</dcterms:created>
  <dcterms:modified xsi:type="dcterms:W3CDTF">2025-10-21T21:25:04Z</dcterms:modified>
</cp:coreProperties>
</file>